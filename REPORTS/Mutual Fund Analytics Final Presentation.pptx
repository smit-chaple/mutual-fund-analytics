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8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MUTUAL FUND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29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CDE0F2"/>
                </a:solidFill>
                <a:latin typeface="Calibri"/>
              </a:rPr>
              <a:t>End-to-End Financial Data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86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FC1E0"/>
                </a:solidFill>
                <a:latin typeface="Calibri"/>
              </a:rPr>
              <a:t>ETL  •  SQLite  •  SQL  •  EDA  •  Performance Analytics  •  Streamlit Dashboard  •  Automated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52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DE0F2"/>
                </a:solidFill>
                <a:latin typeface="Calibri"/>
              </a:rPr>
              <a:t>Bluestock Fintech Capstone Project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DE0F2"/>
                </a:solidFill>
                <a:latin typeface="Calibri"/>
              </a:rPr>
              <a:t>Final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8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D6FA5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243447"/>
                </a:solidFill>
                <a:latin typeface="Calibri"/>
              </a:rPr>
              <a:t>▪  Mutual-fund data (NAV, AUM, SIP, investor, performance) arrives fragmented across sources.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243447"/>
                </a:solidFill>
                <a:latin typeface="Calibri"/>
              </a:rPr>
              <a:t>▪  Each new question requires re-cleaning and re-joining the same data.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243447"/>
                </a:solidFill>
                <a:latin typeface="Calibri"/>
              </a:rPr>
              <a:t>▪  No repeatable way to track how key metrics evolve over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0515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D6FA5"/>
                </a:solidFill>
                <a:latin typeface="Calibri"/>
              </a:rPr>
              <a:t>Project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46304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243447"/>
                </a:solidFill>
                <a:latin typeface="Calibri"/>
              </a:rPr>
              <a:t>▪  Build a reliable ETL pipeline: extract, clean, validate, load.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243447"/>
                </a:solidFill>
                <a:latin typeface="Calibri"/>
              </a:rPr>
              <a:t>▪  Validate AMFI fund identifiers against NAV history coverage.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243447"/>
                </a:solidFill>
                <a:latin typeface="Calibri"/>
              </a:rPr>
              <a:t>▪  Store processed data in a structured SQLite dimension/fact schema.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243447"/>
                </a:solidFill>
                <a:latin typeface="Calibri"/>
              </a:rPr>
              <a:t>▪  Perform EDA, performance and advanced risk analytics on 40 schemes.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243447"/>
                </a:solidFill>
                <a:latin typeface="Calibri"/>
              </a:rPr>
              <a:t>▪  Deliver an interactive Streamlit dashboard.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243447"/>
                </a:solidFill>
                <a:latin typeface="Calibri"/>
              </a:rPr>
              <a:t>▪  Automate live NAV updates, weekly reporting and email delivery.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4710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Mutual Fund Analytics • Bluestock Fintech Capstone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471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8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Project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3999" y="2834640"/>
            <a:ext cx="1298448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Data
Sources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734159" y="3218688"/>
            <a:ext cx="173736" cy="256032"/>
          </a:xfrm>
          <a:prstGeom prst="rightArrow">
            <a:avLst/>
          </a:prstGeom>
          <a:solidFill>
            <a:srgbClr val="B8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80463" y="2834640"/>
            <a:ext cx="1298448" cy="1005840"/>
          </a:xfrm>
          <a:prstGeom prst="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Extract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60623" y="3218688"/>
            <a:ext cx="173736" cy="256032"/>
          </a:xfrm>
          <a:prstGeom prst="rightArrow">
            <a:avLst/>
          </a:prstGeom>
          <a:solidFill>
            <a:srgbClr val="B8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06927" y="2834640"/>
            <a:ext cx="1298448" cy="1005840"/>
          </a:xfrm>
          <a:prstGeom prst="rect">
            <a:avLst/>
          </a:prstGeom>
          <a:solidFill>
            <a:srgbClr val="128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587087" y="3218688"/>
            <a:ext cx="173736" cy="256032"/>
          </a:xfrm>
          <a:prstGeom prst="rightArrow">
            <a:avLst/>
          </a:prstGeom>
          <a:solidFill>
            <a:srgbClr val="B8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33391" y="2834640"/>
            <a:ext cx="1298448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SQLite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13551" y="3218688"/>
            <a:ext cx="173736" cy="256032"/>
          </a:xfrm>
          <a:prstGeom prst="rightArrow">
            <a:avLst/>
          </a:prstGeom>
          <a:solidFill>
            <a:srgbClr val="B8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9855" y="2834640"/>
            <a:ext cx="1298448" cy="1005840"/>
          </a:xfrm>
          <a:prstGeom prst="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Analyse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440015" y="3218688"/>
            <a:ext cx="173736" cy="256032"/>
          </a:xfrm>
          <a:prstGeom prst="rightArrow">
            <a:avLst/>
          </a:prstGeom>
          <a:solidFill>
            <a:srgbClr val="B8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6319" y="2834640"/>
            <a:ext cx="1298448" cy="1005840"/>
          </a:xfrm>
          <a:prstGeom prst="rect">
            <a:avLst/>
          </a:prstGeom>
          <a:solidFill>
            <a:srgbClr val="128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66479" y="3218688"/>
            <a:ext cx="173736" cy="256032"/>
          </a:xfrm>
          <a:prstGeom prst="rightArrow">
            <a:avLst/>
          </a:prstGeom>
          <a:solidFill>
            <a:srgbClr val="B8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12783" y="2834640"/>
            <a:ext cx="1298448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Report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292943" y="3218688"/>
            <a:ext cx="173736" cy="256032"/>
          </a:xfrm>
          <a:prstGeom prst="rightArrow">
            <a:avLst/>
          </a:prstGeom>
          <a:solidFill>
            <a:srgbClr val="B8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439247" y="2834640"/>
            <a:ext cx="1298448" cy="1005840"/>
          </a:xfrm>
          <a:prstGeom prst="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Automate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976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243447"/>
                </a:solidFill>
                <a:latin typeface="Calibri"/>
              </a:rPr>
              <a:t>The master pipeline (run_pipeline.py) orchestrates the full sequence — from raw source files through SQLite storage and analytics to the Streamlit dashboard, weekly report and automated email — executed end-to-end via Python subprocess and triggered on a schedule.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4710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Mutual Fund Analytics • Bluestock Fintech Capstone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5471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8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Data Sources &amp;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651760" cy="960120"/>
          </a:xfrm>
          <a:prstGeom prst="rect">
            <a:avLst/>
          </a:prstGeom>
          <a:solidFill>
            <a:srgbClr val="EAF1F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52728"/>
            <a:ext cx="265176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B2545"/>
                </a:solidFill>
                <a:latin typeface="Calibri"/>
              </a:rPr>
              <a:t>40 / 40</a:t>
            </a:r>
          </a:p>
          <a:p>
            <a:pPr algn="ctr"/>
            <a:r>
              <a:rPr sz="1050">
                <a:solidFill>
                  <a:srgbClr val="5A6B7B"/>
                </a:solidFill>
                <a:latin typeface="Calibri"/>
              </a:rPr>
              <a:t>Validated Schemes
(0 missing codes)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143000"/>
            <a:ext cx="2651760" cy="960120"/>
          </a:xfrm>
          <a:prstGeom prst="rect">
            <a:avLst/>
          </a:prstGeom>
          <a:solidFill>
            <a:srgbClr val="EAF1F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1252728"/>
            <a:ext cx="265176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B2545"/>
                </a:solidFill>
                <a:latin typeface="Calibri"/>
              </a:rPr>
              <a:t>≈46,000</a:t>
            </a:r>
          </a:p>
          <a:p>
            <a:pPr algn="ctr"/>
            <a:r>
              <a:rPr sz="1050">
                <a:solidFill>
                  <a:srgbClr val="5A6B7B"/>
                </a:solidFill>
                <a:latin typeface="Calibri"/>
              </a:rPr>
              <a:t>Historical NAV 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143000"/>
            <a:ext cx="2651760" cy="960120"/>
          </a:xfrm>
          <a:prstGeom prst="rect">
            <a:avLst/>
          </a:prstGeom>
          <a:solidFill>
            <a:srgbClr val="EAF1F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252728"/>
            <a:ext cx="265176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B2545"/>
                </a:solidFill>
                <a:latin typeface="Calibri"/>
              </a:rPr>
              <a:t>2022–2026</a:t>
            </a:r>
          </a:p>
          <a:p>
            <a:pPr algn="ctr"/>
            <a:r>
              <a:rPr sz="1050">
                <a:solidFill>
                  <a:srgbClr val="5A6B7B"/>
                </a:solidFill>
                <a:latin typeface="Calibri"/>
              </a:rPr>
              <a:t>Coverage Period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23960" y="1143000"/>
            <a:ext cx="2743200" cy="960120"/>
          </a:xfrm>
          <a:prstGeom prst="rect">
            <a:avLst/>
          </a:prstGeom>
          <a:solidFill>
            <a:srgbClr val="EAF1F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1252728"/>
            <a:ext cx="274320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B2545"/>
                </a:solidFill>
                <a:latin typeface="Calibri"/>
              </a:rPr>
              <a:t>10</a:t>
            </a:r>
          </a:p>
          <a:p>
            <a:pPr algn="ctr"/>
            <a:r>
              <a:rPr sz="1050">
                <a:solidFill>
                  <a:srgbClr val="5A6B7B"/>
                </a:solidFill>
                <a:latin typeface="Calibri"/>
              </a:rPr>
              <a:t>Datasets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23160"/>
            <a:ext cx="11155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243447"/>
                </a:solidFill>
                <a:latin typeface="Calibri"/>
              </a:rPr>
              <a:t>▪  AMFI reference data + supplied project datasets + mfapi.in for selected live NAV.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243447"/>
                </a:solidFill>
                <a:latin typeface="Calibri"/>
              </a:rPr>
              <a:t>▪  Fund master (40 schemes), historical NAV (~46K records, 2022-01-03 to 2026-05-29), AUM by fund house, monthly SIP inflows, category inflows, folio counts, scheme performance, portfolio holdings and benchmark indices.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243447"/>
                </a:solidFill>
                <a:latin typeface="Calibri"/>
              </a:rPr>
              <a:t>▪  Investor transaction data used for demographic/geographic analysis is synthetic and generated for educational analysis — not sourced from real investor records.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4710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Mutual Fund Analytics • Bluestock Fintech Capstone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471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8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ETL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867" y="1188720"/>
            <a:ext cx="2606040" cy="12344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data_ingestion.py</a:t>
            </a:r>
          </a:p>
          <a:p>
            <a:pPr algn="ctr"/>
            <a:r>
              <a:rPr sz="1050">
                <a:solidFill>
                  <a:srgbClr val="D8E6F3"/>
                </a:solidFill>
              </a:rPr>
              <a:t>Extracts raw source data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28619" y="1691640"/>
            <a:ext cx="274320" cy="22860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75507" y="1188720"/>
            <a:ext cx="2606040" cy="1234440"/>
          </a:xfrm>
          <a:prstGeom prst="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data_cleaning.py</a:t>
            </a:r>
          </a:p>
          <a:p>
            <a:pPr algn="ctr"/>
            <a:r>
              <a:rPr sz="1050">
                <a:solidFill>
                  <a:srgbClr val="D8E6F3"/>
                </a:solidFill>
              </a:rPr>
              <a:t>Cleans, types, validates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63259" y="1691640"/>
            <a:ext cx="274320" cy="22860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0147" y="1188720"/>
            <a:ext cx="2606040" cy="12344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load_database.py</a:t>
            </a:r>
          </a:p>
          <a:p>
            <a:pPr algn="ctr"/>
            <a:r>
              <a:rPr sz="1050">
                <a:solidFill>
                  <a:srgbClr val="D8E6F3"/>
                </a:solidFill>
              </a:rPr>
              <a:t>Loads into SQLite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97899" y="1691640"/>
            <a:ext cx="274320" cy="22860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44787" y="1188720"/>
            <a:ext cx="2606040" cy="1234440"/>
          </a:xfrm>
          <a:prstGeom prst="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run_pipeline.py</a:t>
            </a:r>
          </a:p>
          <a:p>
            <a:pPr algn="ctr"/>
            <a:r>
              <a:rPr sz="1050">
                <a:solidFill>
                  <a:srgbClr val="D8E6F3"/>
                </a:solidFill>
              </a:rPr>
              <a:t>Orchestrates via subprocess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8036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243447"/>
                </a:solidFill>
                <a:latin typeface="Calibri"/>
              </a:rPr>
              <a:t>▪  Cleaning covers date parsing, type correction, missing-value handling, validation and standardisation.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243447"/>
                </a:solidFill>
                <a:latin typeface="Calibri"/>
              </a:rPr>
              <a:t>▪  Processed datasets are joined on AMFI code / scheme name for downstream calculations (returns, CAGR, Sharpe, Sortino, Alpha, Beta, VaR, CVaR, sector HHI).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243447"/>
                </a:solidFill>
                <a:latin typeface="Calibri"/>
              </a:rPr>
              <a:t>▪  weekly_email_report.py generates the recurring HTML report and dynamic email summary from the current database state.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243447"/>
                </a:solidFill>
                <a:latin typeface="Calibri"/>
              </a:rPr>
              <a:t>▪  Running run_pipeline.py end-to-end refreshes live NAV, updates SQLite, regenerates the report and sends the email — enabling unattended scheduled execution.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4710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Mutual Fund Analytics • Bluestock Fintech Capstone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471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8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Database Design &amp; 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127" y="1188720"/>
            <a:ext cx="1783080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onsolas"/>
              </a:rPr>
              <a:t>dim_fund</a:t>
            </a:r>
          </a:p>
          <a:p>
            <a:pPr algn="ctr"/>
            <a:r>
              <a:rPr sz="1000">
                <a:solidFill>
                  <a:srgbClr val="D8E6F3"/>
                </a:solidFill>
              </a:rPr>
              <a:t>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2799" y="1188720"/>
            <a:ext cx="1783080" cy="1051560"/>
          </a:xfrm>
          <a:prstGeom prst="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onsolas"/>
              </a:rPr>
              <a:t>fact_nav</a:t>
            </a:r>
          </a:p>
          <a:p>
            <a:pPr algn="ctr"/>
            <a:r>
              <a:rPr sz="1000">
                <a:solidFill>
                  <a:srgbClr val="D8E6F3"/>
                </a:solidFill>
              </a:rPr>
              <a:t>NAV</a:t>
            </a:r>
          </a:p>
        </p:txBody>
      </p:sp>
      <p:sp>
        <p:nvSpPr>
          <p:cNvPr id="7" name="Rectangle 6"/>
          <p:cNvSpPr/>
          <p:nvPr/>
        </p:nvSpPr>
        <p:spPr>
          <a:xfrm>
            <a:off x="4230471" y="1188720"/>
            <a:ext cx="1783080" cy="1051560"/>
          </a:xfrm>
          <a:prstGeom prst="rect">
            <a:avLst/>
          </a:prstGeom>
          <a:solidFill>
            <a:srgbClr val="128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onsolas"/>
              </a:rPr>
              <a:t>fact_aum</a:t>
            </a:r>
          </a:p>
          <a:p>
            <a:pPr algn="ctr"/>
            <a:r>
              <a:rPr sz="1000">
                <a:solidFill>
                  <a:srgbClr val="D8E6F3"/>
                </a:solidFill>
              </a:rPr>
              <a:t>AUM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8143" y="1188720"/>
            <a:ext cx="1783080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onsolas"/>
              </a:rPr>
              <a:t>fact_performance</a:t>
            </a:r>
          </a:p>
          <a:p>
            <a:pPr algn="ctr"/>
            <a:r>
              <a:rPr sz="1000">
                <a:solidFill>
                  <a:srgbClr val="D8E6F3"/>
                </a:solidFill>
              </a:rPr>
              <a:t>Risk / Return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5815" y="1188720"/>
            <a:ext cx="1783080" cy="1051560"/>
          </a:xfrm>
          <a:prstGeom prst="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onsolas"/>
              </a:rPr>
              <a:t>fact_transactions</a:t>
            </a:r>
          </a:p>
          <a:p>
            <a:pPr algn="ctr"/>
            <a:r>
              <a:rPr sz="1000">
                <a:solidFill>
                  <a:srgbClr val="D8E6F3"/>
                </a:solidFill>
              </a:rPr>
              <a:t>Investor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73487" y="1188720"/>
            <a:ext cx="1783080" cy="1051560"/>
          </a:xfrm>
          <a:prstGeom prst="rect">
            <a:avLst/>
          </a:prstGeom>
          <a:solidFill>
            <a:srgbClr val="128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onsolas"/>
              </a:rPr>
              <a:t>fact_sip</a:t>
            </a:r>
          </a:p>
          <a:p>
            <a:pPr algn="ctr"/>
            <a:r>
              <a:rPr sz="1000">
                <a:solidFill>
                  <a:srgbClr val="D8E6F3"/>
                </a:solidFill>
              </a:rPr>
              <a:t>SIP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2651760"/>
            <a:ext cx="3017520" cy="914400"/>
          </a:xfrm>
          <a:prstGeom prst="rect">
            <a:avLst/>
          </a:prstGeom>
          <a:solidFill>
            <a:srgbClr val="EAF1F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2761488"/>
            <a:ext cx="30175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B2545"/>
                </a:solidFill>
                <a:latin typeface="Calibri"/>
              </a:rPr>
              <a:t>40</a:t>
            </a:r>
          </a:p>
          <a:p>
            <a:pPr algn="ctr"/>
            <a:r>
              <a:rPr sz="1050">
                <a:solidFill>
                  <a:srgbClr val="5A6B7B"/>
                </a:solidFill>
                <a:latin typeface="Calibri"/>
              </a:rPr>
              <a:t>Fund-master AMFI codes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2651760"/>
            <a:ext cx="3017520" cy="914400"/>
          </a:xfrm>
          <a:prstGeom prst="rect">
            <a:avLst/>
          </a:prstGeom>
          <a:solidFill>
            <a:srgbClr val="EAF1F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761488"/>
            <a:ext cx="30175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B2545"/>
                </a:solidFill>
                <a:latin typeface="Calibri"/>
              </a:rPr>
              <a:t>40</a:t>
            </a:r>
          </a:p>
          <a:p>
            <a:pPr algn="ctr"/>
            <a:r>
              <a:rPr sz="1050">
                <a:solidFill>
                  <a:srgbClr val="5A6B7B"/>
                </a:solidFill>
                <a:latin typeface="Calibri"/>
              </a:rPr>
              <a:t>NAV-history AMFI codes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651760"/>
            <a:ext cx="3017520" cy="914400"/>
          </a:xfrm>
          <a:prstGeom prst="rect">
            <a:avLst/>
          </a:prstGeom>
          <a:solidFill>
            <a:srgbClr val="EAF1F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2761488"/>
            <a:ext cx="30175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B2545"/>
                </a:solidFill>
                <a:latin typeface="Calibri"/>
              </a:rPr>
              <a:t>0</a:t>
            </a:r>
          </a:p>
          <a:p>
            <a:pPr algn="ctr"/>
            <a:r>
              <a:rPr sz="1050">
                <a:solidFill>
                  <a:srgbClr val="5A6B7B"/>
                </a:solidFill>
                <a:latin typeface="Calibri"/>
              </a:rPr>
              <a:t>Missing codes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862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243447"/>
                </a:solidFill>
                <a:latin typeface="Calibri"/>
              </a:rPr>
              <a:t>▪  Dimension/fact schema: dim_fund is the shared reference table joined by AMFI code to each fact table.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243447"/>
                </a:solidFill>
                <a:latin typeface="Calibri"/>
              </a:rPr>
              <a:t>▪  SQL queries support fund counts, fund-house summaries, AUM/NAV/SIP analysis, transaction analysis and the filters used throughout the dashboard.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243447"/>
                </a:solidFill>
                <a:latin typeface="Calibri"/>
              </a:rPr>
              <a:t>▪  The 40/40/0 validation result confirms every scheme in the fund master has corresponding NAV history.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4710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Mutual Fund Analytics • Bluestock Fintech Capstone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471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8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EDA &amp; Major Analytics</a:t>
            </a:r>
          </a:p>
        </p:txBody>
      </p:sp>
      <p:pic>
        <p:nvPicPr>
          <p:cNvPr id="5" name="Picture 4" descr="fig01_nav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097280"/>
            <a:ext cx="5334000" cy="2743200"/>
          </a:xfrm>
          <a:prstGeom prst="rect">
            <a:avLst/>
          </a:prstGeom>
        </p:spPr>
      </p:pic>
      <p:pic>
        <p:nvPicPr>
          <p:cNvPr id="6" name="Picture 5" descr="r_aum_by_fund_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964" y="1097280"/>
            <a:ext cx="4488872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886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5A6B7B"/>
                </a:solidFill>
                <a:latin typeface="Calibri"/>
              </a:rPr>
              <a:t>Daily NAV Trend — 40 Schemes, 2022–2026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862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5A6B7B"/>
                </a:solidFill>
                <a:latin typeface="Calibri"/>
              </a:rPr>
              <a:t>AUM by Fund House — Latest 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243447"/>
                </a:solidFill>
                <a:latin typeface="Calibri"/>
              </a:rPr>
              <a:t>▪  NAV trends, AUM growth, SIP inflows, category inflows, investor demographics, folio growth, NAV-return correlation and sector allocation — all computed from the project's processed datasets.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243447"/>
                </a:solidFill>
                <a:latin typeface="Calibri"/>
              </a:rPr>
              <a:t>▪  SBI Mutual Fund leads the displayed fund houses on AUM at the latest snapshot.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4710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Mutual Fund Analytics • Bluestock Fintech Capstone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471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8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AUM &amp; SIP Insights</a:t>
            </a:r>
          </a:p>
        </p:txBody>
      </p:sp>
      <p:pic>
        <p:nvPicPr>
          <p:cNvPr id="5" name="Picture 4" descr="r_sip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97864"/>
            <a:ext cx="5486400" cy="2633472"/>
          </a:xfrm>
          <a:prstGeom prst="rect">
            <a:avLst/>
          </a:prstGeom>
        </p:spPr>
      </p:pic>
      <p:pic>
        <p:nvPicPr>
          <p:cNvPr id="6" name="Picture 5" descr="r_folio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159" y="1097280"/>
            <a:ext cx="5206481" cy="2834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9776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5A6B7B"/>
                </a:solidFill>
                <a:latin typeface="Calibri"/>
              </a:rPr>
              <a:t>Monthly SIP Inflow Trend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97763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5A6B7B"/>
                </a:solidFill>
                <a:latin typeface="Calibri"/>
              </a:rPr>
              <a:t>Growth in Total Mutual Fund Folios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243447"/>
                </a:solidFill>
                <a:latin typeface="Calibri"/>
              </a:rPr>
              <a:t>▪  SIP inflows trend upward across the period, peaking at an all-time high of ₹31,002 Cr.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243447"/>
                </a:solidFill>
                <a:latin typeface="Calibri"/>
              </a:rPr>
              <a:t>▪  Total folios grow from 13.26 Cr to 26.12 Cr between January 2022 and December 2025.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4710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Mutual Fund Analytics • Bluestock Fintech Capstone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471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8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Investor Demographics</a:t>
            </a:r>
          </a:p>
        </p:txBody>
      </p:sp>
      <p:pic>
        <p:nvPicPr>
          <p:cNvPr id="5" name="Picture 4" descr="fig07_ag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191" y="1051560"/>
            <a:ext cx="3155538" cy="3246120"/>
          </a:xfrm>
          <a:prstGeom prst="rect">
            <a:avLst/>
          </a:prstGeom>
        </p:spPr>
      </p:pic>
      <p:pic>
        <p:nvPicPr>
          <p:cNvPr id="6" name="Picture 5" descr="fig08_gender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499" y="1051560"/>
            <a:ext cx="3142362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43484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243447"/>
                </a:solidFill>
                <a:latin typeface="Calibri"/>
              </a:rPr>
              <a:t>▪  26–35 is the largest displayed age segment at approximately 41.1%.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243447"/>
                </a:solidFill>
                <a:latin typeface="Calibri"/>
              </a:rPr>
              <a:t>▪  Male investors represent approximately 66.5%; female investors approximately 33.5% (synthetic dataset).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243447"/>
                </a:solidFill>
                <a:latin typeface="Calibri"/>
              </a:rPr>
              <a:t>▪  T30 cities contribute more total SIP investment than B30 cities in the analysed project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4710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Mutual Fund Analytics • Bluestock Fintech Capstone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471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8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Fund Performance &amp; Risk</a:t>
            </a:r>
          </a:p>
        </p:txBody>
      </p:sp>
      <p:pic>
        <p:nvPicPr>
          <p:cNvPr id="5" name="Picture 4" descr="r_risk_retur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" y="1051560"/>
            <a:ext cx="624078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0" y="12801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243447"/>
                </a:solidFill>
                <a:latin typeface="Calibri"/>
              </a:rPr>
              <a:t>▪  1Y / 3Y / 5Y returns where applicable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243447"/>
                </a:solidFill>
                <a:latin typeface="Calibri"/>
              </a:rPr>
              <a:t>▪  Sharpe &amp; Sortino ratios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243447"/>
                </a:solidFill>
                <a:latin typeface="Calibri"/>
              </a:rPr>
              <a:t>▪  Alpha &amp; Beta vs benchmark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243447"/>
                </a:solidFill>
                <a:latin typeface="Calibri"/>
              </a:rPr>
              <a:t>▪  Annualised volatility &amp; maximum drawdown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243447"/>
                </a:solidFill>
                <a:latin typeface="Calibri"/>
              </a:rPr>
              <a:t>▪  Historical 95% VaR &amp; CVaR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243447"/>
                </a:solidFill>
                <a:latin typeface="Calibri"/>
              </a:rPr>
              <a:t>▪  Fund Performance Scorecard — composite fund_score &amp; risk grade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243447"/>
                </a:solidFill>
                <a:latin typeface="Calibri"/>
              </a:rPr>
              <a:t>▪  Small/mid-cap schemes cluster at higher return &amp; higher risk; gilt and large-cap sit at the lower-risk 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Mutual Fund Analytics • Bluestock Fintech 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471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8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Interactive Streamlit Dashboard</a:t>
            </a:r>
          </a:p>
        </p:txBody>
      </p:sp>
      <p:pic>
        <p:nvPicPr>
          <p:cNvPr id="5" name="Picture 4" descr="fig11_dashboard_indu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51" y="1097280"/>
            <a:ext cx="5371897" cy="3017520"/>
          </a:xfrm>
          <a:prstGeom prst="rect">
            <a:avLst/>
          </a:prstGeom>
        </p:spPr>
      </p:pic>
      <p:pic>
        <p:nvPicPr>
          <p:cNvPr id="6" name="Picture 5" descr="fig12_dashboard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352" y="1097280"/>
            <a:ext cx="5354095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160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5A6B7B"/>
                </a:solidFill>
                <a:latin typeface="Calibri"/>
              </a:rPr>
              <a:t>Industry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16052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5A6B7B"/>
                </a:solidFill>
                <a:latin typeface="Calibri"/>
              </a:rPr>
              <a:t>Fund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243447"/>
                </a:solidFill>
                <a:latin typeface="Calibri"/>
              </a:rPr>
              <a:t>▪  SQLite-backed; four pages — Industry Overview, Fund Performance, Investor Analytics, SIP &amp; Market Trends.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243447"/>
                </a:solidFill>
                <a:latin typeface="Calibri"/>
              </a:rPr>
              <a:t>▪  Fund-house, year and category filters, with cached/on-demand loading for responsive exploration.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4710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Mutual Fund Analytics • Bluestock Fintech Capstone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471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8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Automation &amp; Email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243447"/>
                </a:solidFill>
                <a:latin typeface="Calibri"/>
              </a:rPr>
              <a:t>▪  run_pipeline.py orchestrates the recurring workflow: ingestion → cleaning → load → weekly report → email.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243447"/>
                </a:solidFill>
                <a:latin typeface="Calibri"/>
              </a:rPr>
              <a:t>▪  Windows Task Scheduler task MutualFundAnalytics_ETL launches run_pipeline.py with the project root as the working directory.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243447"/>
                </a:solidFill>
                <a:latin typeface="Calibri"/>
              </a:rPr>
              <a:t>▪  VS Code does not need to remain open; the machine must be powered on and able to execute the scheduled task.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243447"/>
                </a:solidFill>
                <a:latin typeface="Calibri"/>
              </a:rPr>
              <a:t>▪  Resend is used for email delivery; external-recipient delivery depends on sender/domain configuration.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243447"/>
                </a:solidFill>
                <a:latin typeface="Calibri"/>
              </a:rPr>
              <a:t>▪  Email content focuses on a dynamic summary and KPIs rather than depending on chart images rendering in mobile clients.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434840"/>
            <a:ext cx="11064240" cy="123444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b="1" sz="1300">
                <a:solidFill>
                  <a:srgbClr val="0B2545"/>
                </a:solidFill>
              </a:rPr>
              <a:t>Observed automation test output:</a:t>
            </a:r>
          </a:p>
          <a:p>
            <a:r>
              <a:rPr sz="1300" i="1">
                <a:solidFill>
                  <a:srgbClr val="243447"/>
                </a:solidFill>
              </a:rPr>
              <a:t>“Live NAV updated. SQLite database updated. Weekly report generated. Email sent successfully.”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Mutual Fund Analytics • Bluestock Fintech 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471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8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Key Findings &amp;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D6FA5"/>
                </a:solidFill>
                <a:latin typeface="Calibri"/>
              </a:rP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243447"/>
                </a:solidFill>
                <a:latin typeface="Calibri"/>
              </a:rPr>
              <a:t>▪  40/40 AMFI validation with zero missing codes.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243447"/>
                </a:solidFill>
                <a:latin typeface="Calibri"/>
              </a:rPr>
              <a:t>▪  26–35 is the largest displayed age segment (≈41.1%).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243447"/>
                </a:solidFill>
                <a:latin typeface="Calibri"/>
              </a:rPr>
              <a:t>▪  Male investors ≈ 66.5% of the analysed synthetic dataset.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243447"/>
                </a:solidFill>
                <a:latin typeface="Calibri"/>
              </a:rPr>
              <a:t>▪  SIP inflows peak at ₹31,002 Cr; folios rise 13.26 → 26.12 Cr.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243447"/>
                </a:solidFill>
                <a:latin typeface="Calibri"/>
              </a:rPr>
              <a:t>▪  SBI Mutual Fund leads displayed AUM at ≈₹12.5 L Cr.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0515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D6FA5"/>
                </a:solidFill>
                <a:latin typeface="Calibri"/>
              </a:rPr>
              <a:t>Business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46304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243447"/>
                </a:solidFill>
                <a:latin typeface="Calibri"/>
              </a:rPr>
              <a:t>▪  Fund Performance Scorecard supports first-pass fund screening.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243447"/>
                </a:solidFill>
                <a:latin typeface="Calibri"/>
              </a:rPr>
              <a:t>▪  VaR/CVaR and sector-HHI outputs flag elevated risk / concentration.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243447"/>
                </a:solidFill>
                <a:latin typeface="Calibri"/>
              </a:rPr>
              <a:t>▪  Demographic findings can inform distribution strategy.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243447"/>
                </a:solidFill>
                <a:latin typeface="Calibri"/>
              </a:rPr>
              <a:t>▪  Automated weekly report keeps KPIs current without manual rebuilding.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243447"/>
                </a:solidFill>
                <a:latin typeface="Calibri"/>
              </a:rPr>
              <a:t>▪  Category inflow view shows where investor money is currently flowing.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4710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Mutual Fund Analytics • Bluestock Fintech Capstone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471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8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777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2545"/>
                </a:solidFill>
                <a:latin typeface="Calibri"/>
              </a:rPr>
              <a:t>Data fragmentation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298448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43447"/>
                </a:solidFill>
                <a:latin typeface="Calibri"/>
              </a:rPr>
              <a:t>ETL pipeline + SQLite analytical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112471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75688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2545"/>
                </a:solidFill>
                <a:latin typeface="Calibri"/>
              </a:rPr>
              <a:t>Data-quality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075688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43447"/>
                </a:solidFill>
                <a:latin typeface="Calibri"/>
              </a:rPr>
              <a:t>AMFI-code validation &amp; standardisation (40/40/0)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11247120" cy="777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52928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2545"/>
                </a:solidFill>
                <a:latin typeface="Calibri"/>
              </a:rPr>
              <a:t>Comparing funds fairly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852928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43447"/>
                </a:solidFill>
                <a:latin typeface="Calibri"/>
              </a:rPr>
              <a:t>Standardised risk/return metrics &amp; scorecard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20440"/>
            <a:ext cx="112471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30168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2545"/>
                </a:solidFill>
                <a:latin typeface="Calibri"/>
              </a:rPr>
              <a:t>Dashboard responsiveness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630168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43447"/>
                </a:solidFill>
                <a:latin typeface="Calibri"/>
              </a:rPr>
              <a:t>Caching &amp; on-demand loading, avoiding startup overload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97680"/>
            <a:ext cx="11247120" cy="777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07408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2545"/>
                </a:solidFill>
                <a:latin typeface="Calibri"/>
              </a:rPr>
              <a:t>Unattended recurring reporting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407408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43447"/>
                </a:solidFill>
                <a:latin typeface="Calibri"/>
              </a:rPr>
              <a:t>Scheduled pipeline via Windows Task Scheduler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74920"/>
            <a:ext cx="112471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184648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2545"/>
                </a:solidFill>
                <a:latin typeface="Calibri"/>
              </a:rPr>
              <a:t>Mobile email rendering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184648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43447"/>
                </a:solidFill>
                <a:latin typeface="Calibri"/>
              </a:rPr>
              <a:t>KPI/summary-first email design, not chart-dependent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54710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Mutual Fund Analytics • Bluestock Fintech Capstone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5471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8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E3ECF6"/>
                </a:solidFill>
                <a:latin typeface="Calibri"/>
              </a:rPr>
              <a:t>▪  Complete workflow: data → ETL → SQLite → analytics → dashboard → reporting → automation.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E3ECF6"/>
                </a:solidFill>
                <a:latin typeface="Calibri"/>
              </a:rPr>
              <a:t>▪  Demonstrates practical Python, SQL, financial analytics, dashboard development and automation skills.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E3ECF6"/>
                </a:solidFill>
                <a:latin typeface="Calibri"/>
              </a:rPr>
              <a:t>▪  Current implementation is local and educational — not a production financial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94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2897F"/>
                </a:solidFill>
                <a:latin typeface="Calibri"/>
              </a:rPr>
              <a:t>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>
                <a:solidFill>
                  <a:srgbClr val="CDE0F2"/>
                </a:solidFill>
                <a:latin typeface="Calibri"/>
              </a:rPr>
              <a:t>▪  PostgreSQL for production-scale, multi-user operation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>
                <a:solidFill>
                  <a:srgbClr val="CDE0F2"/>
                </a:solidFill>
                <a:latin typeface="Calibri"/>
              </a:rPr>
              <a:t>▪  Public dashboard deployment with authentication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>
                <a:solidFill>
                  <a:srgbClr val="CDE0F2"/>
                </a:solidFill>
                <a:latin typeface="Calibri"/>
              </a:rPr>
              <a:t>▪  Broader live-NAV coverage, cloud scheduling &amp;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722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FC1E0"/>
                </a:solidFill>
                <a:latin typeface="Calibri"/>
              </a:rPr>
              <a:t>Mutual Fund Analytics • Bluestock Fintech Capstone Project —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